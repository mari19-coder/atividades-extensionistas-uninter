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Objetivo: apresentar o curso e explicar que a proposta é criar um sistema simples e sustentável de organização digital.</a:t>
            </a:r>
          </a:p>
          <a:p>
            <a:r>
              <a:t>Pergunta: “Hoje, onde você costuma registrar suas tarefas e compromissos?”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Explique os resultados esperados: saber o que registrar, onde registrar, como priorizar e como revisar.</a:t>
            </a:r>
          </a:p>
          <a:p>
            <a:r>
              <a:t>Pergunta: “Qual desses pontos mais faria diferença na sua rotina hoje?”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Apresente a jornada de 4 horas. Reforce que os exercícios fazem parte do aprendizado e que o projeto final será construído ao longo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 min.</a:t>
            </a:r>
          </a:p>
          <a:p>
            <a:r>
              <a:t>Explique que organização digital não é apenas usar aplicativos. É criar um sistema confiável para reduzir dependência da memória e tornar a rotina visível.</a:t>
            </a:r>
          </a:p>
          <a:p>
            <a:r>
              <a:t>Pergunta: “O que hoje você tenta lembrar sem registrar?”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Apresente os benefícios sem prometer produtividade automática. O sistema ajuda quando é simples e usado com consistência.</a:t>
            </a:r>
          </a:p>
          <a:p>
            <a:r>
              <a:t>Pergunta: “Qual benefício resolveria um problema real para você?”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 a separação entre calendário, tarefas, notas e prioridades. Mostre que misturar tudo em um único lugar pode dificultar a visualização.</a:t>
            </a:r>
          </a:p>
          <a:p>
            <a:r>
              <a:t>Pergunta: “Onde você colocaria uma reunião? E uma tarefa?”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Explique: compromisso ocupa um momento específico; tarefa representa uma ação. Uma tarefa pode virar um bloco de tempo quando você decide quando executá-la.</a:t>
            </a:r>
          </a:p>
          <a:p>
            <a:r>
              <a:t>Pergunta: “Comprar um livro é compromisso ou tarefa?”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Explique o Brain Dump: registrar tudo sem tentar organizar ao mesmo tempo. A separação entre captura e organização reduz o esforço mental.</a:t>
            </a:r>
          </a:p>
          <a:p>
            <a:r>
              <a:t>Demonstração: abra um bloco de notas e faça um exemplo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 min.</a:t>
            </a:r>
          </a:p>
          <a:p>
            <a:r>
              <a:t>Atividade: peça para os alunos registrarem 15–30 itens. Não organizar ainda. Circule e ajude quem travar, sugerindo áreas da vida.</a:t>
            </a:r>
          </a:p>
          <a:p>
            <a:r>
              <a:t>Ao final, pergunte: “O que mudou ao colocar isso para fora da cabeça?”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Faça uma revisão rápida: primeiro capturamos, depois organizamos e só então priorizamos.</a:t>
            </a:r>
          </a:p>
          <a:p>
            <a:r>
              <a:t>Pergunta: “Qual dos três passos você mais negligencia hoje?”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3 min.</a:t>
            </a:r>
          </a:p>
          <a:p>
            <a:r>
              <a:t>Introduza o módulo 2. Explique que o calendário responde principalmente à pergunta: “Quando isso acontece?”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Apresente os três exemplos como opções. O conceito é o mesmo: visualizar e administrar compromissos, eventos, horários e prazos.</a:t>
            </a:r>
          </a:p>
          <a:p>
            <a:r>
              <a:t>Pergunta: “Qual calendário você já usa?”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 que tarefas simples não precisam ocupar o calendário. Mas uma tarefa importante pode ser transformada em bloco de tempo.</a:t>
            </a:r>
          </a:p>
          <a:p>
            <a:r>
              <a:t>Pergunta: “Se você precisa estudar amanhã às 19h, o que muda?”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 min.</a:t>
            </a:r>
          </a:p>
          <a:p>
            <a:r>
              <a:t>Explique Time Blocking como reserva de períodos do calendário para atividades. Mostre que isso transforma uma intenção vaga em um compromisso com o próprio tempo.</a:t>
            </a:r>
          </a:p>
          <a:p>
            <a:r>
              <a:t>Pergunta: “Qual atividade importante você poderia transformar em bloco de tempo?”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Explique eventos recorrentes: em vez de cadastrar manualmente cada ocorrência, configure uma repetição semanal, mensal etc.</a:t>
            </a:r>
          </a:p>
          <a:p>
            <a:r>
              <a:t>Demonstração sugerida: criar um evento semanal no calendário escolhido.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 min.</a:t>
            </a:r>
          </a:p>
          <a:p>
            <a:r>
              <a:t>Mostre que cores são um recurso de leitura rápida. Evite excesso de categorias.</a:t>
            </a:r>
          </a:p>
          <a:p>
            <a:r>
              <a:t>Pergunta: “Quais 4–5 categorias fariam sentido na sua vida?”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15 min.</a:t>
            </a:r>
          </a:p>
          <a:p>
            <a:r>
              <a:t>Atividade prática: montar a próxima semana. Incentive o uso de blocos de estudo e pausas.</a:t>
            </a:r>
          </a:p>
          <a:p>
            <a:r>
              <a:t>Pergunta de reflexão: “Tenho tempo suficiente para tudo?” Se não, o que precisa ser reduzido, delegado ou reagendado?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 min.</a:t>
            </a:r>
          </a:p>
          <a:p>
            <a:r>
              <a:t>Explique o risco de lotar a agenda. Um calendário sustentável precisa considerar pausas, transições, imprevistos e descanso.</a:t>
            </a:r>
          </a:p>
          <a:p>
            <a:r>
              <a:t>Pergunta: “O que acontece quando sua agenda não tem espaço para imprevistos?”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3 min.</a:t>
            </a:r>
          </a:p>
          <a:p>
            <a:r>
              <a:t>Introduza o módulo 3. Explique que o gerenciador responde principalmente: “O que precisa ser feito?”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Apresente as quatro opções citadas no curso. Não é necessário usar todas. O objetivo é entender o conceito e escolher uma ferramenta principal.</a:t>
            </a:r>
          </a:p>
          <a:p>
            <a:r>
              <a:t>Pergunta: “Qual delas parece mais adequada ao seu jeito de trabalhar?”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 min.</a:t>
            </a:r>
          </a:p>
          <a:p>
            <a:r>
              <a:t>Explique que trocar constantemente de aplicativo pode gerar mais trabalho. O melhor sistema é aquele que a pessoa consegue manter.</a:t>
            </a:r>
          </a:p>
          <a:p>
            <a:r>
              <a:t>Pergunta: “Você prefere simplicidade ou flexibilidade?”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 que nomes genéricos não deixam claro o próximo passo. Uma boa tarefa descreve uma ação concreta.</a:t>
            </a:r>
          </a:p>
          <a:p>
            <a:r>
              <a:t>Exercício oral: peça exemplos de tarefas genéricas e ajude a transformá-las em ações específicas.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9 min.</a:t>
            </a:r>
          </a:p>
          <a:p>
            <a:r>
              <a:t>Explique que “criar um portfólio” é um projeto, não uma única ação. Dividir reduz a sensação de tamanho e facilita saber qual é o próximo passo.</a:t>
            </a:r>
          </a:p>
          <a:p>
            <a:r>
              <a:t>Pergunta: “Qual projeto seu poderia ser dividido dessa forma?”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 subtarefas como passos menores dentro de uma tarefa ou projeto. O objetivo é reduzir ambiguidade e facilitar a execução.</a:t>
            </a:r>
          </a:p>
          <a:p>
            <a:r>
              <a:t>Pergunta: “Qual seria o primeiro passo de um projeto que parece grande demais?”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8 min.</a:t>
            </a:r>
          </a:p>
          <a:p>
            <a:r>
              <a:t>Explique os quatro níveis exatamente como no curso. Reforce que eliminar também é uma decisão de organização.</a:t>
            </a:r>
          </a:p>
          <a:p>
            <a:r>
              <a:t>Pergunta: “Qual tarefa sua hoje é importante, mas não urgente?”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 min.</a:t>
            </a:r>
          </a:p>
          <a:p>
            <a:r>
              <a:t>Explique a diferença entre urgência e importância. Use exemplos simples: prova amanhã (urgente/importante), curso para carreira (importante/não urgente).</a:t>
            </a:r>
          </a:p>
          <a:p>
            <a:r>
              <a:t>Pergunta: “O que você costuma confundir: urgência com importância?”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15 min.</a:t>
            </a:r>
          </a:p>
          <a:p>
            <a:r>
              <a:t>Atividade: pegar tarefas do Brain Dump e aplicar os cinco passos. Ajude a transformar itens vagos em ações específicas.</a:t>
            </a:r>
          </a:p>
          <a:p>
            <a:r>
              <a:t>Ao final, peça que cada aluno escolha uma tarefa e explique sua nova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3 min.</a:t>
            </a:r>
          </a:p>
          <a:p>
            <a:r>
              <a:t>Introduza o módulo final: integrar as práticas em um sistema que possa ser usado diariamente e semanalmente.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Apresente o ciclo completo. Explique que a revisão fecha o ciclo e alimenta o próximo planejamento.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Explique que a captura deve ser rápida e confiável. Pode ser uma caixa de entrada no gerenciador ou uma nota temporária que será processada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 min.</a:t>
            </a:r>
          </a:p>
          <a:p>
            <a:r>
              <a:t>Revise a regra de destino: compromisso no calendário, tarefa no gerenciador, informação nas notas e prioridade como classificação.</a:t>
            </a:r>
          </a:p>
          <a:p>
            <a:r>
              <a:t>Pergunta: “Onde você colocaria o link de uma aula que pretende assistir?”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 min.</a:t>
            </a:r>
          </a:p>
          <a:p>
            <a:r>
              <a:t>Use as três perguntas do curso para orientar a priorização. Reforce que prioridade não é sinônimo de urgência.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Explique a rotina diária. De manhã, definir foco; no fim do dia, fechar pendências e preparar o próximo.</a:t>
            </a:r>
          </a:p>
          <a:p>
            <a:r>
              <a:t>Pergunta: “Você conseguiria reservar 5 minutos para isso pela manhã?”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 min.</a:t>
            </a:r>
          </a:p>
          <a:p>
            <a:r>
              <a:t>Explique a revisão semanal como manutenção do sistema. O aluno deve olhar tarefas, calendário, prazos, estudos, trabalho e projetos.</a:t>
            </a:r>
          </a:p>
          <a:p>
            <a:r>
              <a:t>Sugestão: escolher um dia fixo da semana para essa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20 min.</a:t>
            </a:r>
          </a:p>
          <a:p>
            <a:r>
              <a:t>Projeto final: o aluno deve implementar o sistema usando a ferramenta escolhida. Checklist: calendário, categorias, listas, prioridades, projeto, subtarefas, prazos, blocos de tempo, rotina diária e revisão semanal.</a:t>
            </a:r>
          </a:p>
          <a:p>
            <a:r>
              <a:t>Professor: reserve tempo para dúvidas e acompanhe a configuração.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15 min.</a:t>
            </a:r>
          </a:p>
          <a:p>
            <a:r>
              <a:t>Desafio: cada aluno escolhe uma meta real e passa pelo fluxo completo. O professor pode pedir 2–3 compartilhamentos voluntários para consolidar o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</a:t>
            </a:r>
          </a:p>
          <a:p>
            <a:r>
              <a:t>Faça a revisão final dos cinco aprendizados. Peça ao aluno para escolher uma prática que começará imediatamente.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 min.</a:t>
            </a:r>
          </a:p>
          <a:p>
            <a:r>
              <a:t>Encerramento. Retome a mensagem central: organização digital não é fazer mais, mas saber o que fazer, quando fazer, por que fazer e qual é o próximo passo.</a:t>
            </a:r>
          </a:p>
          <a:p>
            <a:r>
              <a:t>Abra para perguntas e feedback.</a:t>
            </a:r>
          </a:p>
          <a:p>
            <a:r>
              <a:t>Pergunta final: “Qual será a primeira mudança que você fará na sua organização digital?”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65760"/>
            <a:ext cx="1371600" cy="1371600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097280"/>
            <a:ext cx="731520" cy="731520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5074920"/>
            <a:ext cx="1005840" cy="1005840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440680"/>
            <a:ext cx="502920" cy="502920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6D4C96"/>
                </a:solidFill>
                <a:latin typeface="Aptos"/>
              </a:rPr>
              <a:t>ORGANIZAÇÃO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312B3A"/>
                </a:solidFill>
                <a:latin typeface="Aptos"/>
              </a:rPr>
              <a:t>Calendários digitais e
gerenciadores de tarefas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033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6270"/>
                </a:solidFill>
                <a:latin typeface="Aptos"/>
              </a:rPr>
              <a:t>Curso prático • 4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2452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09DBE"/>
                </a:solidFill>
                <a:latin typeface="Aptos"/>
              </a:rPr>
              <a:t>Tecnologia + produtividade + clareza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 que vamos aprender?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Ao final, você terá um sistema básico funcionando.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08483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10312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12B3A"/>
                </a:solidFill>
                <a:latin typeface="Aptos"/>
              </a:rPr>
              <a:t>Organizar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587752"/>
            <a:ext cx="16184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informações digitalmente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5031" y="208483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2084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10312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12B3A"/>
                </a:solidFill>
                <a:latin typeface="Aptos"/>
              </a:rPr>
              <a:t>Calendário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587752"/>
            <a:ext cx="16184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compromissos e tempo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208483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2084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10312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12B3A"/>
                </a:solidFill>
                <a:latin typeface="Aptos"/>
              </a:rPr>
              <a:t>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587752"/>
            <a:ext cx="16184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prioridades e execução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2872" y="208483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084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1" y="210312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12B3A"/>
                </a:solidFill>
                <a:latin typeface="Aptos"/>
              </a:rPr>
              <a:t>Planejamento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2587752"/>
            <a:ext cx="16184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semana, projetos e rotina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Agenda do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Quatro módulos, com teoria e prática.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9232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25008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1 • Fundamentos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3572" y="2377440"/>
            <a:ext cx="259232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9291" y="2487168"/>
            <a:ext cx="25008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2 • Calendário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377440"/>
            <a:ext cx="259232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2487168"/>
            <a:ext cx="25008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3 • Tarefas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7676" y="2377440"/>
            <a:ext cx="259232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3396" y="2487168"/>
            <a:ext cx="25008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4 • Sistema pessoal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270"/>
                </a:solidFill>
                <a:latin typeface="Aptos"/>
              </a:rPr>
              <a:t>Capturar e organizar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703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270"/>
                </a:solidFill>
                <a:latin typeface="Aptos"/>
              </a:rPr>
              <a:t>Agendar e visualizar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270"/>
                </a:solidFill>
                <a:latin typeface="Aptos"/>
              </a:rPr>
              <a:t>Priorizar e executar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703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270"/>
                </a:solidFill>
                <a:latin typeface="Aptos"/>
              </a:rPr>
              <a:t>Integrar e revisar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 que é organização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Uma definição simples e prática.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7132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12B3A"/>
                </a:solidFill>
                <a:latin typeface="Aptos"/>
              </a:rPr>
              <a:t>“É o uso de ferramentas e métodos tecnológicos para administrar informações, compromissos, tarefas, projetos e prazos.”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828800"/>
            <a:ext cx="2834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85632" y="19933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2011680"/>
            <a:ext cx="1938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12B3A"/>
                </a:solidFill>
                <a:latin typeface="Aptos"/>
              </a:rPr>
              <a:t>Ideia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496312"/>
            <a:ext cx="193852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Tirar as coisas da cabeça e colocá-las em um sistema confiável.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Por que organizar digitalmente?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Benefícios que aparecem na rotina.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Menos esquecimentos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963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Prazos e compromissos ficam registrados.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Menos sobrecarga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Você não precisa guardar tudo na cabeça.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Mais clareza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4963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Prioridades e próximos passos ficam visíveis.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404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Melhor planejamento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3251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A semana passa a ter uma visão concreta.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6576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8404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Prazos acompanhados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3251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Fica mais fácil antecipar entregas.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6576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8404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Informação centralizada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4325112"/>
            <a:ext cx="29809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Menos tempo procurando onde anotou algo.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Os 4 pilares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Cada tipo de informação tem um lugar.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22219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240280"/>
            <a:ext cx="1709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Calendário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724912"/>
            <a:ext cx="17099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Compromissos e horários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22199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240280"/>
            <a:ext cx="1709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Tarefas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724912"/>
            <a:ext cx="17099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Coisas que precisam ser feitas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22219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240280"/>
            <a:ext cx="1709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Notas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724912"/>
            <a:ext cx="17099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Informações que precisam ser guardadas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5740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08592" y="222199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240280"/>
            <a:ext cx="1709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Prioridades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724912"/>
            <a:ext cx="17099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O que merece atenção primeiro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Tarefa x compromisso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Uma diferença fundamental para não sobrecarregar o calendário.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37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19933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11680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12B3A"/>
                </a:solidFill>
                <a:latin typeface="Aptos"/>
              </a:rPr>
              <a:t>COMPROMISSO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96312"/>
            <a:ext cx="40416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270"/>
                </a:solidFill>
                <a:latin typeface="Aptos"/>
              </a:rPr>
              <a:t>“Reunião às 15h”
→ Calendário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937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199339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011680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12B3A"/>
                </a:solidFill>
                <a:latin typeface="Aptos"/>
              </a:rPr>
              <a:t>TAREFA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496312"/>
            <a:ext cx="40416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270"/>
                </a:solidFill>
                <a:latin typeface="Aptos"/>
              </a:rPr>
              <a:t>“Enviar relatório”
→ Gerenciador de 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6D4C96"/>
                </a:solidFill>
                <a:latin typeface="Aptos"/>
              </a:rPr>
              <a:t>Nem tudo que precisa ser feito precisa ocupar um horário no calendário.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Tirando as coisas da cabeça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Brain Dump / Despejo Mental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2478024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238658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🧠 Cabeça cheia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68880"/>
            <a:ext cx="2478024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2578608"/>
            <a:ext cx="238658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📝 Registrar tudo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4" y="2468880"/>
            <a:ext cx="2478024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2578608"/>
            <a:ext cx="238658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🗂️ Organizar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77656" y="2468880"/>
            <a:ext cx="2478024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2578608"/>
            <a:ext cx="238658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😌 Mais clareza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16052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09DBE"/>
                </a:solidFill>
                <a:latin typeface="Aptos"/>
              </a:rPr>
              <a:t>Primeiro capture. Depois organize.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Prática —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Despejo mental: registre antes de organizar.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12B3A"/>
                </a:solidFill>
                <a:latin typeface="Aptos"/>
              </a:rPr>
              <a:t>Escreva tudo que está ocupando sua cabeça neste momento.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0175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Trabalho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83464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30175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Faculdade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283464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30175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Cursos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3999" y="283464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7" y="30175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Projetos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43484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Compromissos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2519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7328" y="443484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Compras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42519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443484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Tarefas pessoais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669280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6D4C96"/>
                </a:solidFill>
                <a:latin typeface="Aptos"/>
              </a:rPr>
              <a:t>META: 15 a 30 itens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Resumo do módulo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D4C96"/>
                </a:solidFill>
                <a:latin typeface="Aptos"/>
              </a:rPr>
              <a:t>CAPTURAR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0116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9DBE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D4C96"/>
                </a:solidFill>
                <a:latin typeface="Aptos"/>
              </a:rPr>
              <a:t>ORGANIZAR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9DBE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D4C96"/>
                </a:solidFill>
                <a:latin typeface="Aptos"/>
              </a:rPr>
              <a:t>PRIORIZAR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2B3A"/>
                </a:solidFill>
                <a:latin typeface="Aptos"/>
              </a:rPr>
              <a:t>“Um bom sistema começa quando você deixa de depender apenas da memória.”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Calendários Digitais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Visualize compromissos, reserve tempo e planeje uma semana realista.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Organização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 que é um calendário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Uma visão organizada do seu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03911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3911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057400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Visualizar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542032"/>
            <a:ext cx="24871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Ver compromissos, eventos e blocos de tempo em um só lugar.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203911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057400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Planejar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542032"/>
            <a:ext cx="24871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Reservar tempo para atividades importantes.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65592" y="203911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203911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057400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Acompanhar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542032"/>
            <a:ext cx="24871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Consultar datas, horários e recorrências.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96270"/>
                </a:solidFill>
                <a:latin typeface="Aptos"/>
              </a:rPr>
              <a:t>Exemplos: Google Calendar • Microsoft Outlook Calendar • Apple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 que vai para o calendário?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Use o calendário para aquilo que tem data e/ou horário.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194767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476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965960"/>
            <a:ext cx="44074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Vai para o calendário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450591"/>
            <a:ext cx="440740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• Reunião
• Aula
• Consulta
• Prova
• Entrevista
• Evento
• Horário reservado para estudo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82512" y="194767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476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965960"/>
            <a:ext cx="44074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Não necessariamente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450591"/>
            <a:ext cx="440740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• Comprar shampoo
• Responder mensagem
• Ler um artigo
• Fazer uma tarefa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Time Blocking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Reserve tempo para o que importa.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965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31343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18:00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816352"/>
            <a:ext cx="10698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Faculdade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148840"/>
            <a:ext cx="1965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6392" y="231343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816352"/>
            <a:ext cx="10698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148840"/>
            <a:ext cx="1965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6672" y="231343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20:00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816352"/>
            <a:ext cx="10698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Jantar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148840"/>
            <a:ext cx="1965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31343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20:30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816352"/>
            <a:ext cx="10698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Programação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148840"/>
            <a:ext cx="1965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57232" y="231343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21:30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816352"/>
            <a:ext cx="10698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Descanso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0060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6D4C96"/>
                </a:solidFill>
                <a:latin typeface="Aptos"/>
              </a:rPr>
              <a:t>Não basta saber o que fazer. É importante saber quando fazer.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Eventos recorrentes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Automatize aquilo que acontece regularmente.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65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17627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19456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79192"/>
            <a:ext cx="106984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Evento recorrente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11680"/>
            <a:ext cx="1965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6392" y="217627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19456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Estudos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79192"/>
            <a:ext cx="106984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Evento recorrente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011680"/>
            <a:ext cx="1965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6672" y="217627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19456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Pessoal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679192"/>
            <a:ext cx="106984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Evento recorrente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011680"/>
            <a:ext cx="1965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17627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9456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Faculdade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679192"/>
            <a:ext cx="106984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Evento recorrente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011680"/>
            <a:ext cx="1965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57232" y="2176272"/>
            <a:ext cx="438912" cy="438912"/>
          </a:xfrm>
          <a:prstGeom prst="ellipse">
            <a:avLst/>
          </a:prstGeom>
          <a:solidFill>
            <a:srgbClr val="C6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19456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Importante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679192"/>
            <a:ext cx="106984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Evento recorrente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96270"/>
                </a:solidFill>
                <a:latin typeface="Aptos"/>
              </a:rPr>
              <a:t>Exemplos: aula semanal • reunião • academia • estudos • reunião mensal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Cores e categorias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As cores devem facilitar a leitura.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965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22199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724912"/>
            <a:ext cx="10698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Categoria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57400"/>
            <a:ext cx="1965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6392" y="22219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Estudos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724912"/>
            <a:ext cx="10698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Categoria visual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057400"/>
            <a:ext cx="1965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6672" y="222199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Pessoal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724912"/>
            <a:ext cx="10698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Categoria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057400"/>
            <a:ext cx="1965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22199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Faculdade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724912"/>
            <a:ext cx="10698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Categoria visual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057400"/>
            <a:ext cx="1965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57232" y="2221992"/>
            <a:ext cx="438912" cy="438912"/>
          </a:xfrm>
          <a:prstGeom prst="ellipse">
            <a:avLst/>
          </a:prstGeom>
          <a:solidFill>
            <a:srgbClr val="C6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Importante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724912"/>
            <a:ext cx="10698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Categoria visual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72000"/>
            <a:ext cx="8412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12B3A"/>
                </a:solidFill>
                <a:latin typeface="Aptos"/>
              </a:rPr>
              <a:t>Use poucas categorias e mantenha o padrão.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Prática — organize sua semana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Monte a próxima semana no calendário.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Trabalho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Faculdade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Cursos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8288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3728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Estudos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42900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Exercícios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2461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342900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Descanso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42900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2B3A"/>
                </a:solidFill>
                <a:latin typeface="Aptos"/>
              </a:rPr>
              <a:t>Compromissos pessoais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578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09DBE"/>
                </a:solidFill>
                <a:latin typeface="Aptos"/>
              </a:rPr>
              <a:t>PERGUNTA DE REFLEXÃO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57784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312B3A"/>
                </a:solidFill>
                <a:latin typeface="Aptos"/>
              </a:rPr>
              <a:t>Tenho tempo suficiente para tudo?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Regra de ouro do calendário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6D4C96"/>
                </a:solidFill>
                <a:latin typeface="Aptos"/>
              </a:rPr>
              <a:t>NÃO PREENCHA
100% DO SEU 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00200"/>
            <a:ext cx="41148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22592" y="17647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647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1783080"/>
            <a:ext cx="32186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Deixe espaço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2267712"/>
            <a:ext cx="321868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• Trabalho
• Estudo
• Compromissos
• Pausas
• Tempo livre
• Imprevistos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Gerenciadores de Tarefas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Transforme intenções em ações claras, priorizadas e acompanháveis.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Organização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 que é um gerenciador de tarefas?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Uma ferramenta para registrar, organizar, priorizar e acompanhar tarefas.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17627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19456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Microsoft To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679192"/>
            <a:ext cx="16184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Simplicidade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17627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19456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Todoist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679192"/>
            <a:ext cx="16184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Tarefas e produtividade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1" y="217627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19456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Trello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679192"/>
            <a:ext cx="16184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Gestão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01168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17151" y="217627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1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1" y="219456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Notion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1" y="2679192"/>
            <a:ext cx="16184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Flexibilidade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Escolha uma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Você não precisa utilizar cinco aplicativos.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6D4C96"/>
                </a:solidFill>
                <a:latin typeface="Aptos"/>
              </a:rPr>
              <a:t>CONSISTÊNCIA &gt; QUANTIDADE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71800"/>
            <a:ext cx="8503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312B3A"/>
                </a:solidFill>
                <a:latin typeface="Aptos"/>
              </a:rPr>
              <a:t>Escolha uma ferramenta adequada, aprenda o básico e use-a de forma consistente.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663440"/>
            <a:ext cx="1952244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4773168"/>
            <a:ext cx="18608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Escolher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73652" y="4663440"/>
            <a:ext cx="1952244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9372" y="4773168"/>
            <a:ext cx="18608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Configurar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663440"/>
            <a:ext cx="1952244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4773168"/>
            <a:ext cx="18608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Usar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7596" y="4663440"/>
            <a:ext cx="1952244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3316" y="4773168"/>
            <a:ext cx="18608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Revisar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Como criar uma boa tarefa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Clareza reduz a fricção para começar.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389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011680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12B3A"/>
                </a:solidFill>
                <a:latin typeface="Aptos"/>
              </a:rPr>
              <a:t>❌ Genérica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496312"/>
            <a:ext cx="398678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6270"/>
                </a:solidFill>
                <a:latin typeface="Aptos"/>
              </a:rPr>
              <a:t>“Faculdade”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389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2011680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12B3A"/>
                </a:solidFill>
                <a:latin typeface="Aptos"/>
              </a:rPr>
              <a:t>✅ Específica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496312"/>
            <a:ext cx="398678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6270"/>
                </a:solidFill>
                <a:latin typeface="Aptos"/>
              </a:rPr>
              <a:t>“Fazer exercício 3 da disciplina de Banco de Dados”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00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Quanto mais clara a tarefa, mais fácil executá-la.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Projeto x tarefa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Projetos grandes precisam de próximos passos visíveis.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D4C96"/>
                </a:solidFill>
                <a:latin typeface="Aptos"/>
              </a:rPr>
              <a:t>PROJETO: Criar meu portfólio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Escolher plataforma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1269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6989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Criar estrutura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5299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1019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Escrever apresentação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9329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5049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Adicionar projetos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3358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9078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Adicionar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7388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3108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Revisar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1418" y="2743200"/>
            <a:ext cx="1434301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7138" y="2852928"/>
            <a:ext cx="134286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Publicar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0916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12B3A"/>
                </a:solidFill>
                <a:latin typeface="Aptos"/>
              </a:rPr>
              <a:t>Um projeto é um conjunto de ações relacionadas.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Subtarefas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Quebre uma ação grande em passos executáveis.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023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19933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11680"/>
            <a:ext cx="31272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Criar projeto no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96312"/>
            <a:ext cx="312724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☐ Criar repositório
☐ Criar README
☐ Adicionar arquivos
☐ Fazer commit
☐ Revisar
☐ Publicar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5394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50992" y="19933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011680"/>
            <a:ext cx="4498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Regra prática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496312"/>
            <a:ext cx="449884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6270"/>
                </a:solidFill>
                <a:latin typeface="Aptos"/>
              </a:rPr>
              <a:t>Se uma tarefa parece grande demais para começar, provavelmente precisa ser dividida.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Priorização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Nem tudo pode ser prioridade ao mesmo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221992"/>
            <a:ext cx="438912" cy="438912"/>
          </a:xfrm>
          <a:prstGeom prst="ellipse">
            <a:avLst/>
          </a:prstGeom>
          <a:solidFill>
            <a:srgbClr val="C6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24028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724912"/>
            <a:ext cx="16184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Urgente e importante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22199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24028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724912"/>
            <a:ext cx="16184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Importante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574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1" y="22219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24028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724912"/>
            <a:ext cx="16184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Baixa prioridade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0574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17151" y="2221992"/>
            <a:ext cx="438912" cy="438912"/>
          </a:xfrm>
          <a:prstGeom prst="ellipse">
            <a:avLst/>
          </a:prstGeom>
          <a:solidFill>
            <a:srgbClr val="69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1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🗑️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1" y="2240280"/>
            <a:ext cx="1618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Eliminar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1" y="2724912"/>
            <a:ext cx="16184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Não precisa ser feito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Urgente x importante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Use a matriz para decidir onde colocar sua atenção.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9377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0" y="1828800"/>
            <a:ext cx="4937760" cy="1737360"/>
          </a:xfrm>
          <a:prstGeom prst="rect">
            <a:avLst/>
          </a:prstGeom>
          <a:solidFill>
            <a:srgbClr val="EFEAF5"/>
          </a:solidFill>
          <a:ln>
            <a:solidFill>
              <a:srgbClr val="D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4937760" cy="1737360"/>
          </a:xfrm>
          <a:prstGeom prst="rect">
            <a:avLst/>
          </a:prstGeom>
          <a:solidFill>
            <a:srgbClr val="EFEAF5"/>
          </a:solidFill>
          <a:ln>
            <a:solidFill>
              <a:srgbClr val="D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3566160"/>
            <a:ext cx="49377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FAZER AGORA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270"/>
                </a:solidFill>
                <a:latin typeface="Aptos"/>
              </a:rPr>
              <a:t>Importante + urgente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4884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PLANEJAR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6974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270"/>
                </a:solidFill>
                <a:latin typeface="Aptos"/>
              </a:rPr>
              <a:t>Importante + não urgente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8620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DELEGAR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348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270"/>
                </a:solidFill>
                <a:latin typeface="Aptos"/>
              </a:rPr>
              <a:t>Não importante + urgente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88620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ELIMINAR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4348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270"/>
                </a:solidFill>
                <a:latin typeface="Aptos"/>
              </a:rPr>
              <a:t>Não importante + não urgente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Prática — organize suas tarefas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Use o Brain Dump criado no módulo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213055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148840"/>
            <a:ext cx="1115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Identifique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633472"/>
            <a:ext cx="11155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a tarefa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96596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44952" y="213055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1305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2148840"/>
            <a:ext cx="1115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Especifique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633472"/>
            <a:ext cx="11155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a 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6596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2" y="213055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1305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148840"/>
            <a:ext cx="1115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Priorize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633472"/>
            <a:ext cx="11155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o que vem primeiro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6596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13055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1305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48840"/>
            <a:ext cx="1115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Defina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633472"/>
            <a:ext cx="11155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prazo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96596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2952" y="213055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21305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1592" y="2148840"/>
            <a:ext cx="1115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Divida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2633472"/>
            <a:ext cx="11155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se necessário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9204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12B3A"/>
                </a:solidFill>
                <a:latin typeface="Aptos"/>
              </a:rPr>
              <a:t>Resultado: uma lista acionável, não apenas uma lista de preocupações.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MÓDULO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Criando seu Sistema Pessoal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Integre captura, calendário, tarefas, execução e revisão em um único fluxo.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Organização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Seu sistema de organização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 ciclo simples para manter a vida digital sob controle.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CAPTURAR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0028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55748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ORGANIZAR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PRIORIZAR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4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4204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AGENDAR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EXECUTAR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6940" y="2423160"/>
            <a:ext cx="171450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2660" y="2532888"/>
            <a:ext cx="16230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REVISAR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0624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O sistema funciona quando o ciclo se repete.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Capturar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Tudo que surgir deve ser registrado.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965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1343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Ideias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816352"/>
            <a:ext cx="1069848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Registrar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48840"/>
            <a:ext cx="1965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0672" y="231343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Tarefas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16352"/>
            <a:ext cx="1069848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Registrar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148840"/>
            <a:ext cx="1965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2" y="231343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Compromissos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816352"/>
            <a:ext cx="1069848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Registrar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148840"/>
            <a:ext cx="1965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2" y="231343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Prazos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816352"/>
            <a:ext cx="1069848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Registrar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148840"/>
            <a:ext cx="1965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11512" y="231343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23134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233172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Informações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2816352"/>
            <a:ext cx="1069848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270"/>
                </a:solidFill>
                <a:latin typeface="Aptos"/>
              </a:rPr>
              <a:t>Registrar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80060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Registre primeiro. Organize depois.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Organizar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Dê um destino claro para cada informação.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260375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1448"/>
            <a:ext cx="251231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📅 Compromisso → Calendário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5002" y="2331720"/>
            <a:ext cx="260375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0722" y="2441448"/>
            <a:ext cx="251231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✅ Tarefa → Gerenciador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8484" y="2331720"/>
            <a:ext cx="260375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4204" y="2441448"/>
            <a:ext cx="251231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📝 Informação → Notas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1966" y="2331720"/>
            <a:ext cx="2603754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7686" y="2441448"/>
            <a:ext cx="251231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🎯 Prioridade → Classificação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43400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E09DBE"/>
                </a:solidFill>
                <a:latin typeface="Aptos"/>
              </a:rPr>
              <a:t>Menos mistura = mais clareza.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Priorizar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Antes de fazer, decida o que merece sua atenção.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17627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194560"/>
            <a:ext cx="23500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Pergunta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679192"/>
            <a:ext cx="23500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Isso é realmente importante?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217627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194560"/>
            <a:ext cx="23500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Pergunta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679192"/>
            <a:ext cx="23500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Existe um prazo?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217627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1762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194560"/>
            <a:ext cx="23500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2B3A"/>
                </a:solidFill>
                <a:latin typeface="Aptos"/>
              </a:rPr>
              <a:t>Pergunta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679192"/>
            <a:ext cx="23500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Qual é o impacto de não fazer?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0060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D4C96"/>
                </a:solidFill>
                <a:latin typeface="Aptos"/>
              </a:rPr>
              <a:t>NEM TUDO É PRIORIDADE.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Rotina diária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Pequenas revisões mantêm o sistema funcionando.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0292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19933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11680"/>
            <a:ext cx="413308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🌅 Manhã — 5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96312"/>
            <a:ext cx="413308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• Conferir calendário
• Conferir tarefas
• Escolher 3 prioridades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0292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2" y="19933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011680"/>
            <a:ext cx="413308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12B3A"/>
                </a:solidFill>
                <a:latin typeface="Aptos"/>
              </a:rPr>
              <a:t>🌙 Final do dia — 10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496312"/>
            <a:ext cx="413308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6270"/>
                </a:solidFill>
                <a:latin typeface="Aptos"/>
              </a:rPr>
              <a:t>• Marcar concluídas
• Reprogramar pendências
• Conferir o dia seguinte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Revisão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Um encontro de 20 minutos com a sua própria rotina.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Revisar tarefas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9631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Revisar calendário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49631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Conferir prazos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9631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8288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201168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Planejar estudos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9631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461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Planejar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3075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0632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7" y="32461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Organizar projetos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73075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246120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12B3A"/>
                </a:solidFill>
                <a:latin typeface="Aptos"/>
              </a:rPr>
              <a:t>Definir prioridades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730752"/>
            <a:ext cx="211226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7492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12B3A"/>
                </a:solidFill>
                <a:latin typeface="Aptos"/>
              </a:rPr>
              <a:t>Objetivo: entrar na nova semana sabendo o que importa.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Projeto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Crie seu Sistema de Organização Digital.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659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Organizar o calendário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505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9659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Criar categorias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4505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4104" y="19659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Criar listas de tarefas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4104" y="24505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7224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19659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Definir prioridades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4505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1512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9659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Criar um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4505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3375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Dividir em subtarefas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221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6" y="33375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Definir prazos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38221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4" y="33375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Agendar blocos de tempo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38221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07224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33375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Criar rotina diária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38221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11512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3337560"/>
            <a:ext cx="16550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2B3A"/>
                </a:solidFill>
                <a:latin typeface="Aptos"/>
              </a:rPr>
              <a:t>Criar revisão semanal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822191"/>
            <a:ext cx="1655064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270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Desafio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Pegue uma meta real e passe por todo o fluxo.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IDEIA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6308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2028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CAPTURAR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7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6857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ORGANIZAR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5966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1686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DIVIDIR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0795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6515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PRIORIZAR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PRAZO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0452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AA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6172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AGENDAR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5281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1001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EXECUTAR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0110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4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5830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CONCLUIR 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14939" y="2331720"/>
            <a:ext cx="10351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AA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60659" y="2441448"/>
            <a:ext cx="943660" cy="566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2B3A"/>
                </a:solidFill>
                <a:latin typeface="Aptos"/>
              </a:rPr>
              <a:t>REVISAR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6908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12B3A"/>
                </a:solidFill>
                <a:latin typeface="Aptos"/>
              </a:rPr>
              <a:t>Escolha algo importante da sua vida e transforme em um próximo passo executável.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12B3A"/>
                </a:solidFill>
                <a:latin typeface="Aptos"/>
              </a:rPr>
              <a:t>Principais aprendizados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270"/>
                </a:solidFill>
                <a:latin typeface="Aptos"/>
              </a:rPr>
              <a:t>Cinco regras para levar do curso para a rotina.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960120" cy="73152"/>
          </a:xfrm>
          <a:prstGeom prst="roundRect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221992"/>
            <a:ext cx="438912" cy="438912"/>
          </a:xfrm>
          <a:prstGeom prst="ellipse">
            <a:avLst/>
          </a:prstGeom>
          <a:solidFill>
            <a:srgbClr val="AA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Calendário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724912"/>
            <a:ext cx="106984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compromissos e tempo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0672" y="2221992"/>
            <a:ext cx="438912" cy="438912"/>
          </a:xfrm>
          <a:prstGeom prst="ellipse">
            <a:avLst/>
          </a:prstGeom>
          <a:solidFill>
            <a:srgbClr val="E0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Gerenciador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724912"/>
            <a:ext cx="106984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tarefas e execução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057400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2" y="2221992"/>
            <a:ext cx="438912" cy="438912"/>
          </a:xfrm>
          <a:prstGeom prst="ellipse">
            <a:avLst/>
          </a:prstGeom>
          <a:solidFill>
            <a:srgbClr val="6D4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Notas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724912"/>
            <a:ext cx="106984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informações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057400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2" y="2221992"/>
            <a:ext cx="438912" cy="438912"/>
          </a:xfrm>
          <a:prstGeom prst="ellipse">
            <a:avLst/>
          </a:prstGeom>
          <a:solidFill>
            <a:srgbClr val="6A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Prioridades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724912"/>
            <a:ext cx="106984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foco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057400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11512" y="2221992"/>
            <a:ext cx="438912" cy="438912"/>
          </a:xfrm>
          <a:prstGeom prst="ellipse">
            <a:avLst/>
          </a:prstGeom>
          <a:solidFill>
            <a:srgbClr val="E0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2221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2240280"/>
            <a:ext cx="1069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2B3A"/>
                </a:solidFill>
                <a:latin typeface="Aptos"/>
              </a:rPr>
              <a:t>Revisão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2724912"/>
            <a:ext cx="106984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270"/>
                </a:solidFill>
                <a:latin typeface="Aptos"/>
              </a:rPr>
              <a:t>manutenção do sistema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892040"/>
            <a:ext cx="8412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D4C96"/>
                </a:solidFill>
                <a:latin typeface="Aptos"/>
              </a:rPr>
              <a:t>Sistema simples + uso consistente = organização sustentável.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6D4C96"/>
                </a:solidFill>
                <a:latin typeface="Aptos"/>
              </a:rPr>
              <a:t>Organização digital
não é fazer mais.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88920"/>
            <a:ext cx="9326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312B3A"/>
                </a:solidFill>
                <a:latin typeface="Aptos"/>
              </a:rPr>
              <a:t>É saber o que fazer,
quando fazer, por que fazer
e qual é o próximo passo.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16636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09DBE"/>
                </a:solidFill>
                <a:latin typeface="Aptos"/>
              </a:rPr>
              <a:t>Obrigada! 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580644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270"/>
                </a:solidFill>
                <a:latin typeface="Aptos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6270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